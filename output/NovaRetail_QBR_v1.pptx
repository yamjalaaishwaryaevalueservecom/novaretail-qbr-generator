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2026 Executive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Review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$1.28B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4.5%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QoQ Growth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revenue reached $1.28B, growing 4.5% quarter-over-quarter. APAC led performance with 8.2% revenue growth and the strongest customer metrics. Latin America remains the key concern due to declining revenue, weak customer experience, and elevated operational risk.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9" name="Picture 18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 Accelerates While Latin America Continues to Contract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350" i="1">
                <a:solidFill>
                  <a:srgbClr val="1E2761"/>
                </a:solidFill>
                <a:latin typeface="Calibri"/>
              </a:rPr>
              <a:t>• APAC was the fastest-growing region (+8.2%).</a:t>
            </a:r>
            <a:endParaRPr lang="en-US" sz="1350" dirty="0"/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North America remained the largest revenue contributor ($465M).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Europe maintained stable revenue growth and profitability.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Latin America declined 6.7% amid rising returns and service issues.</a:t>
            </a: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10" name="Picture 9" descr="performanc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Improves Everywhere Except Latin America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350" i="1">
                <a:solidFill>
                  <a:srgbClr val="1E2761"/>
                </a:solidFill>
                <a:latin typeface="Calibri"/>
              </a:rPr>
              <a:t>• APAC led customer experience with NPS 62 and CSAT 92%.</a:t>
            </a:r>
            <a:endParaRPr lang="en-US" sz="1350" dirty="0"/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Europe improved consistently, reaching NPS 53.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North America maintained strong satisfaction and delivery performance.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Latin America fell to NPS 29 with delivery delays of 7.5 days.</a:t>
            </a: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0" name="Picture 9" descr="custome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Latin America Deteriorates as APAC Capacity Tightens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350" i="1">
                <a:solidFill>
                  <a:srgbClr val="1E2761"/>
                </a:solidFill>
                <a:latin typeface="Calibri"/>
              </a:rPr>
              <a:t>• Latin America recorded the highest stockout rate at 12.5%.</a:t>
            </a:r>
            <a:endParaRPr lang="en-US" sz="1350" dirty="0"/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Fraud incidents in Latin America increased to 30.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Return processing time reached 10 days in Latin America.</a:t>
            </a:r>
          </a:p>
          <a:p>
            <a:pPr algn="l"/>
            <a:r>
              <a:rPr sz="1350" i="1">
                <a:solidFill>
                  <a:srgbClr val="1E2761"/>
                </a:solidFill>
                <a:latin typeface="Calibri"/>
              </a:rPr>
              <a:t>• APAC warehouse utilization reached 92%, creating capacity pressure.</a:t>
            </a: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0" name="Picture 9" descr="ris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sz="1600" i="1">
                <a:solidFill>
                  <a:srgbClr val="FFFFFF"/>
                </a:solidFill>
                <a:latin typeface="Calibri"/>
              </a:rPr>
              <a:t>• Stabilize inventory and fulfillment operations in Latin America.</a:t>
            </a:r>
            <a:endParaRPr lang="en-US" sz="1600" dirty="0"/>
          </a:p>
          <a:p>
            <a:pPr algn="l"/>
            <a:r>
              <a:rPr sz="1600" i="1">
                <a:solidFill>
                  <a:srgbClr val="FFFFFF"/>
                </a:solidFill>
                <a:latin typeface="Calibri"/>
              </a:rPr>
              <a:t>• Reduce fraud exposure and accelerate returns processing.</a:t>
            </a:r>
          </a:p>
          <a:p>
            <a:pPr algn="l"/>
            <a:r>
              <a:rPr sz="1600" i="1">
                <a:solidFill>
                  <a:srgbClr val="FFFFFF"/>
                </a:solidFill>
                <a:latin typeface="Calibri"/>
              </a:rPr>
              <a:t>• Expand APAC warehouse capacity before demand exceeds limits.</a:t>
            </a:r>
          </a:p>
          <a:p>
            <a:pPr algn="l"/>
            <a:r>
              <a:rPr sz="1600" i="1">
                <a:solidFill>
                  <a:srgbClr val="FFFFFF"/>
                </a:solidFill>
                <a:latin typeface="Calibri"/>
              </a:rPr>
              <a:t>• Protect customer satisfaction through operational excellence.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Latin America recovery while investing ahead of APAC growth.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9" name="Picture 8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